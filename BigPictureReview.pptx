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1" r:id="rId32"/>
    <p:sldId id="287" r:id="rId33"/>
    <p:sldId id="289" r:id="rId34"/>
    <p:sldId id="288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70" d="100"/>
          <a:sy n="170" d="100"/>
        </p:scale>
        <p:origin x="1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35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A940-0984-803E-D9FE-1E2D31E2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23810-3039-99A7-30D7-1AEEB8F28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9D4AC-6A76-E6E8-664C-33C5A7945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2A548-E9AF-4E32-55A0-446BF5235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1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2E50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UG54 — Big Picture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 – 13  |  Data-Driven Investing with 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Moreira  •  NYU Stern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 of the Course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4–5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risk premia,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ratios, timing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6–9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models, alpha/beta,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portfolios, estimation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10–13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Strategies, allocation,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connects through one equation:  w* = (1/γ) × E[rᵉ] / Var(r)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640080"/>
            <a:ext cx="6400800" cy="960120"/>
          </a:xfrm>
          <a:prstGeom prst="rect">
            <a:avLst/>
          </a:prstGeom>
          <a:solidFill>
            <a:srgbClr val="1B5E20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6583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IDEAL: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knew E[R] and Σ, the answer is one equation: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 = (1/γ) Σ⁻¹ E[Rᵉ]     →  Tangency portfolio  →  Max Sharpe  →  Done.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1965960"/>
            <a:ext cx="5486400" cy="502920"/>
          </a:xfrm>
          <a:prstGeom prst="rect">
            <a:avLst/>
          </a:prstGeom>
          <a:solidFill>
            <a:srgbClr val="EF444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20240" y="19659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 You don't know E[R] or Σ.  Estimation uncertainty changes everything.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46888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0" y="2468880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2788920"/>
            <a:ext cx="4937760" cy="41148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E[Rᵉ]  —  the hard part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2788920"/>
            <a:ext cx="3383280" cy="41148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Σ  —  easier but still hard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1417320" cy="1143000"/>
          </a:xfrm>
          <a:prstGeom prst="rect">
            <a:avLst/>
          </a:prstGeom>
          <a:solidFill>
            <a:srgbClr val="3B82F6">
              <a:alpha val="2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319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5.1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" y="358444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E[R]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signals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3291840"/>
            <a:ext cx="1417320" cy="1143000"/>
          </a:xfrm>
          <a:prstGeom prst="rect">
            <a:avLst/>
          </a:prstGeom>
          <a:solidFill>
            <a:srgbClr val="3B82F6">
              <a:alpha val="2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3319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47672" y="358444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E[R]: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E[Rᵢ] = Σₖ βᵢₖ λₖ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premia not N means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3291840"/>
            <a:ext cx="1417320" cy="1143000"/>
          </a:xfrm>
          <a:prstGeom prst="rect">
            <a:avLst/>
          </a:prstGeom>
          <a:solidFill>
            <a:srgbClr val="3B82F6">
              <a:alpha val="2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3319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02152" y="358444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→ long/short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signals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3291840"/>
            <a:ext cx="1417320" cy="1143000"/>
          </a:xfrm>
          <a:prstGeom prst="rect">
            <a:avLst/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3319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5.2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13832" y="358444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timing: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predictable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1/RVₜ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3291840"/>
            <a:ext cx="1417320" cy="1143000"/>
          </a:xfrm>
          <a:prstGeom prst="rect">
            <a:avLst/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319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68312" y="358444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risk: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BΣ_FB'+Σ_ε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Uncertainty:  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Diversification reduces risk from Σ errors  •  Ch 9 Shrinkage &amp; factor structure tame estimation  •  Ch 11 Heuristics when MV fails  •  Ch 12 Detect overfitting  •  Ch 13 Regularization (Lasso, etc.)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Chapter Is a Response to Estimation Uncertainty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38404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229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8229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object: excess returns, Sharpe ratio — the scoreboard before estimation begins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243584"/>
            <a:ext cx="8503920" cy="384048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43584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435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2435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24358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E[R] with signals (hard: OOS R² &lt; 0) or scale by 1/RV (easier: vol is persistent)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8503920" cy="38404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664208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6642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664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16642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E[R] to K factor premia (not N means).  Reduce Σ to factor structure (not N² covariances)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84832"/>
            <a:ext cx="8503920" cy="384048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08483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0848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084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0848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protects you: errors in individual covariances wash out in W'ΣW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505456"/>
            <a:ext cx="8503920" cy="38404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2505456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50545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 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250545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ideal: MVE = Σ⁻¹E[Rᵉ].  Two-fund separation holds if you trust your estimates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8503920" cy="384048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2926080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926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31720" y="29260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quantified: ±2σ perturbation in E[R] flips MVE weights.  Shrink toward simpler models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346704"/>
            <a:ext cx="8503920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346704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34670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" y="3346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334670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Side-step: rank stocks on characteristics instead of estimating E[R] directly.  Long top, short bottom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767328"/>
            <a:ext cx="8503920" cy="38404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0040" y="3767328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37673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11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" y="3767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 II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31720" y="37673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MV fails: 1/N, risk parity, shrinkage.  Simpler heuristics often win out-of-sample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187952"/>
            <a:ext cx="8503920" cy="384048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20040" y="4187952"/>
            <a:ext cx="54864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1879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12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97280" y="4187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331720" y="418795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overfitting: SR degrades &gt;50% OOS.  Multiple testing, hold-out discipline, publication bias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608576"/>
            <a:ext cx="8503920" cy="38404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20040" y="4608576"/>
            <a:ext cx="54864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60857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 13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" y="4608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331720" y="460857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Regularize: Lasso beats complex models in low-SNR.  Bias-variance tradeoff favors simplicity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Asset Returns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We care about excess returns — compensation for bearing risk.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 Ratio is a great first pass. 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Robust to leverage.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Returns: The Building Blocks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Definitions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Total Return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</a:rPr>
              <a:t>Rₜ = (Pₜ + Dₜ) / Pₜ₋₁ − 1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Excess Return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</a:rPr>
              <a:t>Rᵉₜ = Rₜ − Rᶠₜ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Sharpe Ratio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</a:rPr>
              <a:t>SR = E[Rᵉ] / σ(Rᵉ)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Annualization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</a:rPr>
              <a:t>μ_A = 12 × μ_M    σ_A = √12 × σ_M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Excess Returns?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Returns (not prices) are scale-free and comparable across assets.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Excess returns strip out the time value of money — what remains is </a:t>
            </a:r>
            <a:r>
              <a:rPr lang="en-US" sz="1300" b="1" dirty="0">
                <a:solidFill>
                  <a:srgbClr val="1E293B"/>
                </a:solidFill>
              </a:rPr>
              <a:t>compensation for risk.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Example (UNH, daily data):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Ann. mean: 22.4%   Vol: 43.3%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Sharpe Ratio ≈ 0.45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Sharpe ≈ 0.5 is a good benchmark for an annual Sharpe ratio.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 Strategies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Optimal weight depends on expected return AND variance.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time on either — but expected returns are much harder to predict.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w* = E[rᵉ] / (γ × Var(r))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weight is the risk–return tradeoff scaled by risk aversion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Return Timing (Ch 5.1)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Signal: dividend yield → forecast rₜ₊ₕ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rₜ→ₜ₊ₕ = a + b × DPₜ + uₜ₊ₕ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Pitfalls: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Overlapping returns → use HAC (Newey-West)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</a:rPr>
              <a:t>• In-sample SR = 0.75, but OOS R² &lt; 0!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Structural breaks (buybacks) weaken signal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37744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37744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Volatility Timing (Ch 5.2)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880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wₜ = c / RVₜ  (scale down when vol is high)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Why it works: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Volatility is highly predictable (persistent)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Price of risk falls when vol is high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• SR improvement: 0.45 → 0.52 (+15%)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Must lag signal &amp; cap leverage!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Models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Factor models serve two distinct purposes —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expected returns (fewer parameters) and modeling risk (structured Σ).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Models as Expected Return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Regression to Expected Returns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Start:  </a:t>
            </a:r>
            <a:r>
              <a:rPr lang="en-US" sz="1400" b="1" dirty="0">
                <a:solidFill>
                  <a:srgbClr val="2E5090"/>
                </a:solidFill>
              </a:rPr>
              <a:t>rᵉᵢ = αᵢ + βᵢ₁ f₁ + βᵢ₂ f₂ + ⋯ + βᵢₖ fₖ + εᵢ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Take E[·]:  </a:t>
            </a:r>
            <a:r>
              <a:rPr lang="en-US" sz="1400" b="1" dirty="0">
                <a:solidFill>
                  <a:srgbClr val="2E5090"/>
                </a:solidFill>
              </a:rPr>
              <a:t>E[rᵉᵢ] = αᵢ + βᵢ₁ λ₁ + βᵢ₂ λ₂ + ⋯ + βᵢₖ λₖ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where λₖ = E[fₖ] is the risk premium for factor 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73152" cy="1965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Dimension Reduction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Without factors: estimate N expected returns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</a:rPr>
              <a:t>(5,000 stocks = 5,000 noisy means!)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With factors: estimate K risk premia + N×K betas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(6 factors + betas from regression — much easier)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Betas estimated from time-series regressions.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Risk premia λ from factor portfolio returns.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743200"/>
            <a:ext cx="73152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= What's Left Over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If the model is correct:  αᵢ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Expected returns fully explained by factor betas.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If αᵢ ≠ 0:  mispricing or missing factor.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E5090"/>
                </a:solidFill>
              </a:rPr>
              <a:t>"Bonuses only for alpha" — the industry mantra.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Example: MSFT daily α = 0.06% (annualized ~15%)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β_mkt = 1.19 → E[rᵉ] = 1.19 × 8% ≈ 9.5% from 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Models as Risk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Betas to a Structured Covariance Matrix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 = B Σ_F B' + Σ_ε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 = N×K beta matrix     Σ_F = K×K factor covariance     Σ_ε = N×N diagonal (residual variances)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Portfolio risk:  Var(Rₚ) = </a:t>
            </a:r>
            <a:r>
              <a:rPr lang="en-US" sz="1300" b="1" dirty="0">
                <a:solidFill>
                  <a:srgbClr val="3B82F6"/>
                </a:solidFill>
              </a:rPr>
              <a:t>(w'B)</a:t>
            </a:r>
            <a:r>
              <a:rPr lang="en-US" sz="1300" dirty="0">
                <a:solidFill>
                  <a:srgbClr val="1E293B"/>
                </a:solidFill>
              </a:rPr>
              <a:t> Σ_F </a:t>
            </a:r>
            <a:r>
              <a:rPr lang="en-US" sz="1300" b="1" dirty="0">
                <a:solidFill>
                  <a:srgbClr val="3B82F6"/>
                </a:solidFill>
              </a:rPr>
              <a:t>(B'w)</a:t>
            </a:r>
            <a:r>
              <a:rPr lang="en-US" sz="1300" dirty="0">
                <a:solidFill>
                  <a:srgbClr val="0D9488"/>
                </a:solidFill>
              </a:rPr>
              <a:t> + w' Σ_ε w</a:t>
            </a:r>
            <a:r>
              <a:rPr lang="en-US" sz="1200" dirty="0">
                <a:solidFill>
                  <a:srgbClr val="1E293B"/>
                </a:solidFill>
              </a:rPr>
              <a:t>     where </a:t>
            </a:r>
            <a:r>
              <a:rPr lang="en-US" sz="1300" b="1" dirty="0">
                <a:solidFill>
                  <a:srgbClr val="3B82F6"/>
                </a:solidFill>
              </a:rPr>
              <a:t>β_p = B'w</a:t>
            </a:r>
            <a:r>
              <a:rPr lang="en-US" sz="1200" dirty="0">
                <a:solidFill>
                  <a:srgbClr val="1E293B"/>
                </a:solidFill>
              </a:rPr>
              <a:t> is the portfolio's factor exposure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73152" cy="1965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Parameter Savings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Full Σ: N(N+1)/2 parameters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500 stocks → 125,250 covariances!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Factor Σ: NK betas + K(K+1)/2 +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500 stocks, 6 factors → 3,521 parameters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35× fewer parameters → far more stable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covariance estimates → better portfolios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743200"/>
            <a:ext cx="73152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Risk Decomposition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Your portfolio w has factor exposure β_p = B'w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Systematic risk: β_p' Σ_F β_p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risk from factor movements (not diversifiable)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Idiosyncratic risk: w' Σ_ε w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diversifiable with many stocks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R² = systematic / total variance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MSFT vs SPY: R² = 0.42 → 42% factor risk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Hedging, Portable Alpha &amp; Appraisal Ratio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Hedged Portfolio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Hedge = Remove factor exposure: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rʰᵉᵈᵍᵉᵈ = rᵉ − β × f = α + ε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Why hedge?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Lower vol → bigger position within risk budget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Example (MSFT, $1M vol budget):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Unhedged position: ~$94M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Hedged position: ~$136M (1.4× larger!)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Appraisal Ratio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</a:rPr>
              <a:t>AR = α / σ(ε)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= Sharpe ratio of hedged portfolio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Connection to overall Sharpe: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SR²_total = SR²_market + AR²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Alpha and market are orthogonal bets.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Portable alpha = sell β, keep α.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Pod shops require factor-neutral positions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across multiple factors (zero net β).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Mathematics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Portfolio variance is NOT the weighted average of variances.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Covariances dominate. Diversification is the only free lunch.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Algebra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Portfolio return:  </a:t>
            </a:r>
            <a:r>
              <a:rPr lang="en-US" sz="1400" b="1" dirty="0">
                <a:solidFill>
                  <a:srgbClr val="2E5090"/>
                </a:solidFill>
              </a:rPr>
              <a:t>Rₚ = W'R = Σ wⱼ rⱼ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Expected return:  </a:t>
            </a:r>
            <a:r>
              <a:rPr lang="en-US" sz="1400" b="1" dirty="0">
                <a:solidFill>
                  <a:srgbClr val="2E5090"/>
                </a:solidFill>
              </a:rPr>
              <a:t>E[Rₚ] = W'E[R]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Portfolio variance:  </a:t>
            </a:r>
            <a:r>
              <a:rPr lang="en-US" sz="1400" b="1" dirty="0">
                <a:solidFill>
                  <a:srgbClr val="2E5090"/>
                </a:solidFill>
              </a:rPr>
              <a:t>Var(Rₚ) = W'ΣW = Σᵢ Σⱼ wᵢwⱼ Cov(rᵢ,rⱼ)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Diversification in 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50-asset portfolio: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50 variance terms vs. 2,450 covariance terms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Adding a MORE volatile asset can REDUCE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portfolio vol if correlation is low enough.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US + Intl (70/30): lower vol than 100% 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Constraints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Σ wⱼ = 1  (fully invested)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wⱼ ≥ 0  (long-only constraint)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With risk-free asset: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Σ wⱼ + w_rf =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Short = negative w, Leverage = Σ|wⱼ| &gt; 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Two-Fund Separation — all investors hold the same risky portfolio (MVE);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only in how much risk-free asset to mix 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Efficient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W* = (1/γ) Σ⁻¹ E[Rᵉ]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MVE weights: inverse covariance × expected excess returns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Two-Fund Separation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Optimal portfolio vol: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w* × σ(rₚ) = (1/γ) × SR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Conservative investor: small w*, more cash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Aggressive investor: large w*, same risky mix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"All you need is Sharpe" — the MVE portfolio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maximizes SR, everyone just scales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Example (FF6)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Factor Sharpe Ratios (annual):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Mkt: 0.46   SMB: 0.17   HML: 0.33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RMW: 0.41  CMA: 0.40  MOM: 0.49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MVE portfolio (in-sample):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SR ≈ 1.17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</a:rPr>
              <a:t>⚠ But: massive overfitting risk (Ch 12)!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Model Estimation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Estimation risk is the silent killer. Small perturbations in inputs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wild swings in MVE weights. Regularization is essential.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 Risk &amp; Hedged Portfolios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The Problem:  </a:t>
            </a:r>
            <a:r>
              <a:rPr lang="en-US" sz="1300" dirty="0">
                <a:solidFill>
                  <a:srgbClr val="1E293B"/>
                </a:solidFill>
              </a:rPr>
              <a:t>MVE weights = Σ⁻¹E[Rᵉ].  Small errors in E[R] or Σ → extreme, unstable weights.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The Fix:  </a:t>
            </a:r>
            <a:r>
              <a:rPr lang="en-US" sz="1300" dirty="0">
                <a:solidFill>
                  <a:srgbClr val="1E293B"/>
                </a:solidFill>
              </a:rPr>
              <a:t>Shrink toward simpler models. Use factor structure to reduce the number of parameters.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E5090"/>
                </a:solidFill>
              </a:rPr>
              <a:t>Factor model covariance:  Σ = β Var(F) β' + Var(ε)      (far fewer parameters than full Σ)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Variance, Betas, Factor premia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1E293B"/>
                </a:solidFill>
              </a:rPr>
              <a:t>Past data is highly informative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1E293B"/>
                </a:solidFill>
              </a:rPr>
              <a:t>Lots of statistical judgements regarding estimation windows needs to be made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D9488"/>
                </a:solidFill>
              </a:rPr>
              <a:t>Economics implies it is transitory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D9488"/>
                </a:solidFill>
              </a:rPr>
              <a:t>Why? It gets competed away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D9488"/>
                </a:solidFill>
              </a:rPr>
              <a:t>Unless based on non-public information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 Equity Strategies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Sort stocks on a characteristic → long the top, short the bottom.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every major factor (value, momentum, quality) is constructed.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Portfolio Construction Recipe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960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characteristic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Book/Market,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return, etc.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8288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960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look-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bias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18288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960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into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8288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2356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960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 or 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deciles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18288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960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top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bottom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R^LS = R₁₀ − R₁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Signal–Diversification Tradeoff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Fewer groups (5): weaker signal, more diversified, lower vol.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Many groups (100): extreme signal, but concentrated, higher vol.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Sweet spot: 10–20 groups typically optimal.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Market-cap weighting preferred: auto-rebalances, minimizes turnover, easy to trade.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Factor Zoo — Key Factors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0.33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Market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stocks outperform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(contrarian / distress risk)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0.49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12m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 last month)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keep winning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(6–12 month horizon)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0.41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COGS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Assets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firms earn more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signal)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0.40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383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investment firms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(empire building)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0.17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383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caps earn premium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(weakest factor)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Momentum: The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Mom signal:  </a:t>
            </a:r>
            <a:r>
              <a:rPr lang="en-US" sz="1400" b="1" dirty="0">
                <a:solidFill>
                  <a:srgbClr val="2E5090"/>
                </a:solidFill>
              </a:rPr>
              <a:t>Momᵢ,ₜ₋₂ = Pₜ₋₂ / Pₜ₋₁₄ − 1</a:t>
            </a:r>
            <a:r>
              <a:rPr lang="en-US" sz="1200" dirty="0">
                <a:solidFill>
                  <a:srgbClr val="64748B"/>
                </a:solidFill>
              </a:rPr>
              <a:t>     (12-month cumulative, skip most recent month)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Horizons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(&lt;1m): Reversal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(3–12m): Momentum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(3–5yr): Reversal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the intermediate effect.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01168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0116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Month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Jegadeesh (1990): short-term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contaminates signal.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last month removes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noise.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01168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Crashes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&amp; Moskowitz (2015):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crashes hard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 periods (2008, 2020).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profitable but risky.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When MVE is unreliable, use bet-sizing heuristics.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models often beat optimal ones out-of-sample.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Bet-Sizing Heuristics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005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∝ αᵢ / σ²(εᵢ)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005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 theory; fragile in practice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= (1/N) × sign(αᵢ)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weight; ignores signal strength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Proportional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∝ αᵢ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by alpha; ignores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Parity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∝ 1/σ(εᵢ)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vol contribution; robust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Variance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∝ 1/σ²(εᵢ)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equal alphas; uses risk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Shrinkage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0320" y="3977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∝ αᵢ / [(1−τ)σ² + τσ̄²]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977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MV toward simpler 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small universe → 1/N or risk parity.  Large universe → shrinkage or MV with regularization.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Evaluation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Overfitting is the #1 enemy. If you didn't hold out a test sample,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backtest is a fairy tale. Multiple testing makes it worse.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Testing &amp; Overfitting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rᵉₜ = α + β rᵐᵏᵗₜ + εₜ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E5090"/>
                </a:solidFill>
              </a:rPr>
              <a:t>Appraisal Ratio = α / σ(ε) = t_α / √T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Minimum AR to be p-confident true AR &gt; target:</a:t>
            </a:r>
            <a:endParaRPr lang="en-US" sz="15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AR_thresh = AR_target + z_p / √(T/12)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 in Action (MVE)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In-sample (1963–2012):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SR = 1.34, α = 12.3%/yr, t = 9.07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Out-of-sample (2013–2025):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SR = 0.54, α = 3.2%/yr, t = 0.95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SR degrades by &gt;50% out of sample.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Toolkit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Sharpe Ratio &amp; t-stat     2. Alpha &amp; Appraisal Ratio     3. Cumulative returns &amp; drawdown     4. Tail behavior (±3σ frequency)     5. Fraction to Half (robustness)     6. OOS test efficiency     7. Multiple testing correction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Multiple testing: </a:t>
            </a:r>
            <a:r>
              <a:rPr lang="en-US" sz="1200" dirty="0">
                <a:solidFill>
                  <a:srgbClr val="1E293B"/>
                </a:solidFill>
              </a:rPr>
              <a:t>100 noise strategies, t &gt; 1.64 → expect ~4 false positives. With 1 real signal (SR=1), 48-month test, t &gt; 2: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Hit rate = 15.9%  |  Detection rate = 48.5%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Publication bias: HML SR ≈ 0.6 in-sample → ≈ 0 post-publication.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Splitting: The Golden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estimate and evaluate on the same sample.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future data (lag everything).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hold-out sample. Don't peek until done tuning.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discarded ideas (affects multiple testing).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Split:  Estimation (fit model) → Tuning (select hyperparams) → Hold-out (final test)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in Finance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Signal-to-noise is destiny. In low-SNR domains like finance,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simple models often beat complex ones.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Rᵢ,ₜ₊₁ = F(Xᵢ,ₜ) + εᵢ,ₜ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Signal ≈ 0.1–0.5%/month  •  Noise ≈ 10%  •  SNR ≈ 0.01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(29 characteristics, ~200K stock-months)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1.03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hard to beat!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1.10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correlated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8046720" cy="27432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+ interactions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465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2.40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465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435 features, marginal gain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758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1.47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758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interactions, shallow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8046720" cy="27432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1.82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4050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residual fitting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(regularized)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2.61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early stopping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Lessons for Finance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simple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Lasso/Elastic Net are hard to beat, interpretable, and robust. Complexity rarely pays in low-SNR.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Regularize everything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weight decay + early stopping for NNs. Keep trees shallow (depth ≤ 3). Shrink covariances.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 the time series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future data. Three-way split. Learning curves matter more than architecture.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descent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Overparameterized models can recover signal if it exists — but CANNOT create signal from noise.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8CAA-2F1B-620F-D032-9E536E96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5D95E4-7F25-8249-C263-65ECB1D8C137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Questions from the Final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2A2F54-78C0-F1A4-51D6-B6FAC3677C94}"/>
              </a:ext>
            </a:extLst>
          </p:cNvPr>
          <p:cNvSpPr/>
          <p:nvPr/>
        </p:nvSpPr>
        <p:spPr>
          <a:xfrm>
            <a:off x="77724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73EDE0-C439-8128-DC03-EC79547BEC4D}"/>
              </a:ext>
            </a:extLst>
          </p:cNvPr>
          <p:cNvSpPr txBox="1"/>
          <p:nvPr/>
        </p:nvSpPr>
        <p:spPr>
          <a:xfrm>
            <a:off x="344774" y="1191718"/>
            <a:ext cx="77873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having the exam ready for Monday, I selected randomly 4 questions to 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will of course now have to prepare new questions!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this should also give a good estimate of what to expect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construction they are sampled from the same data generating process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Lets go through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4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C9014B-CC76-D7DD-57B8-1048A7410DBC}"/>
              </a:ext>
            </a:extLst>
          </p:cNvPr>
          <p:cNvSpPr txBox="1"/>
          <p:nvPr/>
        </p:nvSpPr>
        <p:spPr>
          <a:xfrm>
            <a:off x="272052" y="506320"/>
            <a:ext cx="8637679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1) Multiple choice — explain your answer (30 pts)</a:t>
            </a:r>
          </a:p>
          <a:p>
            <a:r>
              <a:rPr lang="en-US" sz="1100" dirty="0"/>
              <a:t>For each question, </a:t>
            </a:r>
            <a:r>
              <a:rPr lang="en-US" sz="1100" b="1" dirty="0"/>
              <a:t>circle as many answers as needed</a:t>
            </a:r>
            <a:r>
              <a:rPr lang="en-US" sz="1100" dirty="0"/>
              <a:t> </a:t>
            </a:r>
            <a:r>
              <a:rPr lang="en-US" sz="1100" i="1" dirty="0"/>
              <a:t>and</a:t>
            </a:r>
            <a:r>
              <a:rPr lang="en-US" sz="1100" dirty="0"/>
              <a:t> </a:t>
            </a:r>
            <a:r>
              <a:rPr lang="en-US" sz="1100" b="1" dirty="0"/>
              <a:t>provide a one- or two-sentence explanation</a:t>
            </a:r>
            <a:r>
              <a:rPr lang="en-US" sz="1100" dirty="0"/>
              <a:t>. The explanation is required for full credit.</a:t>
            </a:r>
          </a:p>
          <a:p>
            <a:r>
              <a:rPr lang="en-US" sz="1100" b="1" dirty="0"/>
              <a:t>1.1)</a:t>
            </a:r>
            <a:r>
              <a:rPr lang="en-US" sz="1100" dirty="0"/>
              <a:t> Which allocation rule is robust to noise in your estimates of expected returns?</a:t>
            </a:r>
          </a:p>
          <a:p>
            <a:pPr lvl="0"/>
            <a:r>
              <a:rPr lang="en-US" sz="1100" dirty="0"/>
              <a:t>MVE / tangency portfolio</a:t>
            </a:r>
          </a:p>
          <a:p>
            <a:pPr lvl="0"/>
            <a:r>
              <a:rPr lang="en-US" sz="1100" dirty="0"/>
              <a:t>Equal-weight</a:t>
            </a:r>
          </a:p>
          <a:p>
            <a:pPr lvl="0"/>
            <a:r>
              <a:rPr lang="en-US" sz="1100" dirty="0"/>
              <a:t>Inverse-volatility (diagonal risk parity)</a:t>
            </a:r>
          </a:p>
          <a:p>
            <a:pPr lvl="0"/>
            <a:r>
              <a:rPr lang="en-US" sz="1100" dirty="0"/>
              <a:t>Minimum-variance portfolio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b="1" dirty="0"/>
              <a:t>1.2)</a:t>
            </a:r>
            <a:r>
              <a:rPr lang="en-US" sz="1100" dirty="0"/>
              <a:t> A fund’s CAPM alpha is 4%. After adding HML to the regression, alpha drops to 1%. What can you conclude?</a:t>
            </a:r>
          </a:p>
          <a:p>
            <a:pPr lvl="0"/>
            <a:r>
              <a:rPr lang="en-US" sz="1100" dirty="0"/>
              <a:t>The fund manager has 4% of true skill.</a:t>
            </a:r>
          </a:p>
          <a:p>
            <a:pPr lvl="0"/>
            <a:r>
              <a:rPr lang="en-US" sz="1100" dirty="0"/>
              <a:t>About 3% of the apparent alpha was actually a value tilt.</a:t>
            </a:r>
          </a:p>
          <a:p>
            <a:pPr lvl="0"/>
            <a:r>
              <a:rPr lang="en-US" sz="1100" dirty="0"/>
              <a:t>The fund has zero true skill.</a:t>
            </a:r>
          </a:p>
          <a:p>
            <a:pPr lvl="0"/>
            <a:r>
              <a:rPr lang="en-US" sz="1100" dirty="0"/>
              <a:t>Adding factors should not change the alpha.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b="1" dirty="0"/>
              <a:t>1.3)</a:t>
            </a:r>
            <a:r>
              <a:rPr lang="en-US" sz="1100" dirty="0"/>
              <a:t> You test 50 candidate signals at the 5% significance level. Under the null that none has alpha, the expected number of signals flagged as significant is approximately:</a:t>
            </a:r>
          </a:p>
          <a:p>
            <a:pPr lvl="0"/>
            <a:r>
              <a:rPr lang="en-US" sz="1100" dirty="0"/>
              <a:t>0</a:t>
            </a:r>
          </a:p>
          <a:p>
            <a:pPr lvl="0"/>
            <a:r>
              <a:rPr lang="en-US" sz="1100" dirty="0"/>
              <a:t>2.5</a:t>
            </a:r>
          </a:p>
          <a:p>
            <a:pPr lvl="0"/>
            <a:r>
              <a:rPr lang="en-US" sz="1100" dirty="0"/>
              <a:t>5</a:t>
            </a:r>
          </a:p>
          <a:p>
            <a:pPr lvl="0"/>
            <a:r>
              <a:rPr lang="en-US" sz="1100" dirty="0"/>
              <a:t>50</a:t>
            </a:r>
          </a:p>
          <a:p>
            <a:r>
              <a:rPr lang="en-US" sz="1100" dirty="0"/>
              <a:t> </a:t>
            </a:r>
          </a:p>
          <a:p>
            <a:endParaRPr lang="en-US" sz="1100" dirty="0"/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7477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27E7-3BDE-D919-1496-EE571BA3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9A994D-586E-9528-D4B8-F7C578D9500C}"/>
              </a:ext>
            </a:extLst>
          </p:cNvPr>
          <p:cNvSpPr txBox="1"/>
          <p:nvPr/>
        </p:nvSpPr>
        <p:spPr>
          <a:xfrm>
            <a:off x="272052" y="506320"/>
            <a:ext cx="86376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pod asks you for $50 million. They show a four-year track record: annual return 10%, vol 10%, SR 1. The market SR is 0.5 with a vol of 15%</a:t>
            </a:r>
          </a:p>
          <a:p>
            <a:pPr lvl="0"/>
            <a:r>
              <a:rPr lang="en-US" dirty="0"/>
              <a:t>Suppose you leverage this strategy to have vol equal to the market, what expected return you expect to get?</a:t>
            </a:r>
          </a:p>
          <a:p>
            <a:pPr lvl="0"/>
            <a:r>
              <a:rPr lang="en-US" dirty="0"/>
              <a:t>Your CIO says: “This looks twice as good as the market.” Is he right? </a:t>
            </a:r>
            <a:r>
              <a:rPr lang="en-US" b="1" dirty="0"/>
              <a:t>Explain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Name one non-statistical question about the strategy you would ask before allocating capital</a:t>
            </a:r>
          </a:p>
          <a:p>
            <a:r>
              <a:rPr lang="en-US" sz="1100" dirty="0"/>
              <a:t> </a:t>
            </a:r>
          </a:p>
          <a:p>
            <a:endParaRPr lang="en-US" sz="1100" dirty="0"/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94267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2F3F00-CFFD-E03A-315D-ADDF47C6BCDB}"/>
                  </a:ext>
                </a:extLst>
              </p:cNvPr>
              <p:cNvSpPr txBox="1"/>
              <p:nvPr/>
            </p:nvSpPr>
            <p:spPr>
              <a:xfrm>
                <a:off x="151141" y="468536"/>
                <a:ext cx="899286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Assignment 5 you found that perturbing one industry’s expected excess return by </a:t>
                </a:r>
                <a14:m>
                  <m:oMath xmlns:m="http://schemas.openxmlformats.org/officeDocument/2006/math">
                    <m:r>
                      <a:rPr lang="en-US"/>
                      <m:t>±</m:t>
                    </m:r>
                    <m:r>
                      <a:rPr lang="en-US" i="1"/>
                      <m:t>1.96</m:t>
                    </m:r>
                  </m:oMath>
                </a14:m>
                <a:r>
                  <a:rPr lang="en-US" dirty="0"/>
                  <a:t> standard errors (still within its 95% CI) caused the </a:t>
                </a:r>
                <a:r>
                  <a:rPr lang="en-US" b="1" dirty="0"/>
                  <a:t>tangency weights</a:t>
                </a:r>
                <a:r>
                  <a:rPr lang="en-US" dirty="0"/>
                  <a:t> to change dramatically — but the </a:t>
                </a:r>
                <a:r>
                  <a:rPr lang="en-US" b="1" dirty="0"/>
                  <a:t>in-sample Sharpe ratio</a:t>
                </a:r>
                <a:r>
                  <a:rPr lang="en-US" dirty="0"/>
                  <a:t> barely moved.</a:t>
                </a:r>
              </a:p>
              <a:p>
                <a:endParaRPr lang="en-US" dirty="0"/>
              </a:p>
              <a:p>
                <a:pPr lvl="0"/>
                <a:r>
                  <a:rPr lang="en-US" dirty="0"/>
                  <a:t>Explain in one or two sentences why the weights move so much.</a:t>
                </a:r>
              </a:p>
              <a:p>
                <a:pPr lvl="0"/>
                <a:endParaRPr lang="en-US" dirty="0"/>
              </a:p>
              <a:p>
                <a:pPr lvl="0"/>
                <a:r>
                  <a:rPr lang="en-US" dirty="0"/>
                  <a:t>Explain in one or two sentences why the in-sample SR barely moves under these perturbations.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2F3F00-CFFD-E03A-315D-ADDF47C6B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41" y="468536"/>
                <a:ext cx="8992860" cy="2585323"/>
              </a:xfrm>
              <a:prstGeom prst="rect">
                <a:avLst/>
              </a:prstGeom>
              <a:blipFill>
                <a:blip r:embed="rId2"/>
                <a:stretch>
                  <a:fillRect l="-706" t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783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DA2A-6959-D372-7C05-69E4A72D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D7E32E-6190-1807-9C8F-4B7AC0901D34}"/>
              </a:ext>
            </a:extLst>
          </p:cNvPr>
          <p:cNvSpPr txBox="1"/>
          <p:nvPr/>
        </p:nvSpPr>
        <p:spPr>
          <a:xfrm>
            <a:off x="272052" y="506320"/>
            <a:ext cx="86376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 </a:t>
            </a:r>
          </a:p>
          <a:p>
            <a:endParaRPr lang="en-US" sz="1100" dirty="0"/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 </a:t>
            </a:r>
          </a:p>
          <a:p>
            <a:endParaRPr lang="en-US" sz="11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6E7017-4F6A-8513-795A-1015FFC4F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997821"/>
              </p:ext>
            </p:extLst>
          </p:nvPr>
        </p:nvGraphicFramePr>
        <p:xfrm>
          <a:off x="516224" y="3250340"/>
          <a:ext cx="7886700" cy="1386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697805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504503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3083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Stock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Quality signal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Return next 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18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-3%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4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293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414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360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95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-1%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364433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02618D14-AAF2-93DA-5EA2-E509CA35E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89" y="914163"/>
            <a:ext cx="886012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sort six stocks on a quality signal. Higher signal means higher quality. You form an equal-weighted long-short portfolio: long the top two stocks and short the bottom two stocks.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Which stocks are in the long leg and which are in the short leg?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Compute the long-leg return.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Compute the short-leg return.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Compute the long-short return.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Compute the difference between the average signal in the long leg and the average signal in the short leg. Why is this useful?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992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3536</Words>
  <Application>Microsoft Macintosh PowerPoint</Application>
  <PresentationFormat>On-screen Show (16:9)</PresentationFormat>
  <Paragraphs>583</Paragraphs>
  <Slides>35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UG54 Big Picture Review — Chapters 4–13</dc:title>
  <dc:subject>PptxGenJS Presentation</dc:subject>
  <dc:creator>Alan Moreira</dc:creator>
  <cp:lastModifiedBy>am16634</cp:lastModifiedBy>
  <cp:revision>4</cp:revision>
  <dcterms:created xsi:type="dcterms:W3CDTF">2026-04-28T16:02:16Z</dcterms:created>
  <dcterms:modified xsi:type="dcterms:W3CDTF">2026-05-04T19:20:09Z</dcterms:modified>
</cp:coreProperties>
</file>